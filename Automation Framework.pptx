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60" r:id="rId6"/>
    <p:sldId id="261" r:id="rId7"/>
    <p:sldId id="262" r:id="rId8"/>
    <p:sldId id="266" r:id="rId9"/>
    <p:sldId id="263" r:id="rId10"/>
  </p:sldIdLst>
  <p:sldSz cx="12192000" cy="6858000"/>
  <p:notesSz cx="6858000" cy="9144000"/>
  <p:embeddedFontLst>
    <p:embeddedFont>
      <p:font typeface="Poppins" panose="020B0604020202020204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D0AF8C-70A9-4513-8D97-E613DD2DCAB2}">
  <a:tblStyle styleId="{D8D0AF8C-70A9-4513-8D97-E613DD2DCA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5897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8736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578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66800" y="2535733"/>
            <a:ext cx="1108138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WAN Automation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Framework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66800" y="4234755"/>
            <a:ext cx="105537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Infrastructure Resiliency &amp; Deployment Orchestration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TechLink Solutions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066800" y="5634780"/>
            <a:ext cx="57486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High Availability – Reliability – Fault Tolerance – Resiliency - Scalability</a:t>
            </a:r>
            <a:endParaRPr lang="en-US" dirty="0">
              <a:solidFill>
                <a:srgbClr val="64748B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53" y="54923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96691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 &amp; Topology Resilience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424112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multi-branch footprint linking Cairo HQ core to Alexandria and Giza regional nodes.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847725" y="319545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193553"/>
            <a:ext cx="48577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Dual WAN Ingress: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Redundant ISP paths per branch terminating on Core L3.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47725" y="3774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499" y="3841087"/>
            <a:ext cx="52005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/>
            <a:r>
              <a:rPr lang="en-US" sz="1425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Performance &amp; Efficiency: </a:t>
            </a:r>
            <a:r>
              <a:rPr lang="en-US" sz="1425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Optimizing traffic paths and localized routing decisions to preserve expensive WAN bandwidth and keep latency to an absolute minimum</a:t>
            </a:r>
            <a:r>
              <a:rPr lang="en-US" sz="1425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47725" y="453372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75360" y="4534316"/>
            <a:ext cx="48577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Availability: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Physical diversity across Gi1/0 to Gi4/0 interfaces.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NETWORK TOPOLOGY OVERVIEW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7799" y="1849312"/>
            <a:ext cx="5833475" cy="40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52413" y="5091111"/>
            <a:ext cx="48579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Logical Segmentation: </a:t>
            </a:r>
            <a:r>
              <a:rPr lang="en-US" sz="1425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Strict separation of the management plane (VLAN 10) from end-user traffic (VLAN 20) across all local access ports </a:t>
            </a:r>
            <a:endParaRPr sz="1425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6"/>
            <a:ext cx="3492400" cy="289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3400" y="1743076"/>
            <a:ext cx="3492400" cy="28972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14400" y="2733676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OSPF Area 0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914400" y="3248026"/>
            <a:ext cx="28066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Single Backbone Area 0 configuration for maximum convergence speed and simplicity.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4686300" y="2733676"/>
            <a:ext cx="294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Traffic Flow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686300" y="3248026"/>
            <a:ext cx="28065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Sub-second RIB recalculation upon link state failure ensures zero-touch recovery</a:t>
            </a:r>
            <a:r>
              <a:rPr lang="en-US" sz="1425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12407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6300" y="212407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ROUTING ENGINE</a:t>
            </a:r>
            <a:endParaRPr dirty="0"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300" y="1743075"/>
            <a:ext cx="3492400" cy="289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8853" y="2120995"/>
            <a:ext cx="329213" cy="384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68853" y="2759274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Why OSPF</a:t>
            </a:r>
            <a:endParaRPr lang="en-US" sz="1800" b="1" dirty="0">
              <a:solidFill>
                <a:srgbClr val="0F172A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29606" y="3259665"/>
            <a:ext cx="2817514" cy="53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dynamic neighbor discovery and zero manual route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872544"/>
            <a:ext cx="4123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The Failover Mechanism</a:t>
            </a:r>
            <a:endParaRPr lang="en-US" sz="2400" b="1" dirty="0">
              <a:solidFill>
                <a:srgbClr val="0F172A"/>
              </a:solidFill>
              <a:latin typeface="Poppins"/>
              <a:ea typeface="Poppins"/>
              <a:cs typeface="Poppins"/>
            </a:endParaRPr>
          </a:p>
        </p:txBody>
      </p:sp>
      <p:pic>
        <p:nvPicPr>
          <p:cNvPr id="18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100" y="5394900"/>
            <a:ext cx="2792449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3900" y="5394901"/>
            <a:ext cx="2792449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4800" y="5394900"/>
            <a:ext cx="2792449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914400" y="5540295"/>
            <a:ext cx="12698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Link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6301" y="5567293"/>
            <a:ext cx="22336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LSA </a:t>
            </a:r>
            <a:r>
              <a:rPr lang="en-US" b="1" dirty="0" smtClean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Flood &amp;LSDB updated</a:t>
            </a:r>
            <a:endParaRPr lang="en-US" b="1" dirty="0">
              <a:solidFill>
                <a:srgbClr val="0F172A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05800" y="5539072"/>
            <a:ext cx="25811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Recalculation &amp; restoring</a:t>
            </a:r>
            <a:endParaRPr lang="en-US" b="1" dirty="0">
              <a:solidFill>
                <a:srgbClr val="0F172A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78021" y="5542226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6" name="Google Shape;143;p16"/>
          <p:cNvSpPr/>
          <p:nvPr/>
        </p:nvSpPr>
        <p:spPr>
          <a:xfrm>
            <a:off x="647700" y="4826868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321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15"/>
          <p:cNvGraphicFramePr/>
          <p:nvPr/>
        </p:nvGraphicFramePr>
        <p:xfrm>
          <a:off x="571500" y="2355651"/>
          <a:ext cx="11049000" cy="3222875"/>
        </p:xfrm>
        <a:graphic>
          <a:graphicData uri="http://schemas.openxmlformats.org/drawingml/2006/table">
            <a:tbl>
              <a:tblPr firstRow="1" bandRow="1">
                <a:noFill/>
                <a:tableStyleId>{D8D0AF8C-70A9-4513-8D97-E613DD2DCAB2}</a:tableStyleId>
              </a:tblPr>
              <a:tblGrid>
                <a:gridCol w="244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Segment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Prefix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Subnet Mask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Design Rationale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WAN Point-to-Point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192.168.x.x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255.255.255.252 (/30)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Conserve space, minimize broadcast noise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Inter-Site Transit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10.10.1.0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255.255.255.252 (/30)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L3 Core to Distribution Handoff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Branch LAN (Users)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10.11.20.0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Scalable local user segmentation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Branch Management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10.11.10.0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Isolated OOB management access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1" name="Google Shape;111;p15"/>
          <p:cNvSpPr/>
          <p:nvPr/>
        </p:nvSpPr>
        <p:spPr>
          <a:xfrm>
            <a:off x="571500" y="3638550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020466" y="3638550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77804" y="3638550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7162204" y="3638550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4280445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020466" y="4280445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77804" y="4280445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162204" y="4280445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4922341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020466" y="4922341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77804" y="4922341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162204" y="4922341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5564237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020466" y="5564237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577804" y="5564237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162204" y="5564237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IP STRATEGIC ADDRESSING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87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381750" y="1966912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4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Multilayer Switch (</a:t>
            </a:r>
            <a:r>
              <a:rPr lang="en-US" sz="1404" b="1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MLS)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657975" y="319545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57975" y="2781383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 10: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Management SVI for device telemetry.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6655196" y="286183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6657975" y="3070854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 20: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End-user data segment with DHCP relay to Core.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6657975" y="3774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62750" y="3772495"/>
            <a:ext cx="48577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Routed port </a:t>
            </a:r>
            <a:r>
              <a:rPr lang="en-US" sz="1425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FE0/0 ( </a:t>
            </a:r>
            <a:r>
              <a:rPr lang="en-US" sz="1425" b="1" i="0" u="none" strike="noStrike" cap="none" dirty="0" smtClean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#no </a:t>
            </a:r>
            <a:r>
              <a:rPr lang="en-US" sz="1425" b="1" i="0" u="none" strike="noStrike" cap="none" dirty="0" err="1" smtClean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switchport</a:t>
            </a:r>
            <a:r>
              <a:rPr lang="en-US" sz="1425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isolation on Multi-Layer Switches.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SWITCHING &amp; SEGMENT ARCHITECTURE</a:t>
            </a:r>
            <a:endParaRPr dirty="0"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14160" y="4632153"/>
            <a:ext cx="4773930" cy="158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9929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Zero-Trust</a:t>
            </a:r>
            <a:r>
              <a:rPr lang="en-US" sz="1404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system: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Inbound Extended Access Control Lists (ACLs)</a:t>
            </a:r>
            <a:b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sz="1425" dirty="0" smtClean="0">
                <a:solidFill>
                  <a:srgbClr val="475569"/>
                </a:solidFill>
                <a:latin typeface="Lato"/>
                <a:ea typeface="Lato"/>
                <a:cs typeface="Lato"/>
              </a:rPr>
              <a:t>bound </a:t>
            </a:r>
            <a:r>
              <a:rPr lang="en-US" sz="1425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on SVIs to </a:t>
            </a:r>
            <a:r>
              <a:rPr lang="en-US" sz="1425" dirty="0" smtClean="0">
                <a:solidFill>
                  <a:srgbClr val="475569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425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block horizontal lateral movement </a:t>
            </a:r>
            <a:r>
              <a:rPr lang="en-US" sz="1425" dirty="0" smtClean="0">
                <a:solidFill>
                  <a:srgbClr val="475569"/>
                </a:solidFill>
                <a:latin typeface="Lato"/>
                <a:ea typeface="Lato"/>
                <a:cs typeface="Lato"/>
              </a:rPr>
              <a:t>      between </a:t>
            </a:r>
            <a:r>
              <a:rPr lang="en-US" sz="1425" dirty="0" smtClean="0">
                <a:solidFill>
                  <a:srgbClr val="475569"/>
                </a:solidFill>
                <a:latin typeface="Lato"/>
                <a:ea typeface="Lato"/>
                <a:cs typeface="Lato"/>
              </a:rPr>
              <a:t>different VLANs.</a:t>
            </a:r>
            <a:endParaRPr lang="en-US" sz="1425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381750" y="2139470"/>
            <a:ext cx="312938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Inter-VLAN Routing using SVIs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52541" y="3471380"/>
            <a:ext cx="25795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Supports routing protocols</a:t>
            </a:r>
          </a:p>
        </p:txBody>
      </p:sp>
      <p:pic>
        <p:nvPicPr>
          <p:cNvPr id="1028" name="Picture 4" descr="networking - What does 'Si' mean with respect to network switches? - Server  Faul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61" y="2079358"/>
            <a:ext cx="4167419" cy="358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64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1272775"/>
            <a:ext cx="7048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AUTOMATED</a:t>
            </a:r>
            <a:r>
              <a:rPr lang="en-US" sz="31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PROVISIONING</a:t>
            </a:r>
            <a:endParaRPr dirty="0"/>
          </a:p>
        </p:txBody>
      </p:sp>
      <p:sp>
        <p:nvSpPr>
          <p:cNvPr id="167" name="Google Shape;167;p18"/>
          <p:cNvSpPr/>
          <p:nvPr/>
        </p:nvSpPr>
        <p:spPr>
          <a:xfrm>
            <a:off x="571500" y="1272778"/>
            <a:ext cx="76200" cy="1200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09612" y="2890082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Deployment engine utilizing Python and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Netmiko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for zero-error baseline configuration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20371" y="382111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847724" y="4296535"/>
            <a:ext cx="413504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1852611" y="11207361"/>
            <a:ext cx="4572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2000" y="1765904"/>
            <a:ext cx="73308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Configuration Deployment Script (</a:t>
            </a:r>
            <a:r>
              <a:rPr lang="en-US" altLang="en-US" sz="2000" b="1" dirty="0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initial_deploy.py</a:t>
            </a:r>
            <a:r>
              <a:rPr lang="en-US" altLang="en-US" sz="2000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)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-161582"/>
            <a:ext cx="26481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116" y="510918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77419" y="5003714"/>
            <a:ext cx="54630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Advanced Dynamic </a:t>
            </a:r>
            <a:r>
              <a:rPr lang="en-US" sz="1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Syntaxes: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Dictionary unpacking </a:t>
            </a:r>
            <a:r>
              <a:rPr lang="en-US" sz="1800" dirty="0" smtClean="0">
                <a:solidFill>
                  <a:srgbClr val="FF0000"/>
                </a:solidFill>
                <a:latin typeface="Arial" panose="020B0604020202020204" pitchFamily="34" charset="0"/>
              </a:rPr>
              <a:t>(**</a:t>
            </a:r>
            <a:r>
              <a:rPr lang="en-US" sz="1800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node_param</a:t>
            </a:r>
            <a:r>
              <a:rPr lang="en-US" sz="1800" dirty="0" smtClean="0">
                <a:solidFill>
                  <a:srgbClr val="FF0000"/>
                </a:solidFill>
                <a:latin typeface="Arial" panose="020B0604020202020204" pitchFamily="34" charset="0"/>
              </a:rPr>
              <a:t> )</a:t>
            </a:r>
            <a:endParaRPr lang="en-US" sz="1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68346" y="5714646"/>
            <a:ext cx="47101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Defensive Programming Architecture: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for fault isolation and mandatory socket teardown</a:t>
            </a:r>
            <a:r>
              <a:rPr lang="en-US" sz="1800" dirty="0" smtClean="0"/>
              <a:t>.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try/except/finally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Google Shape;173;p18"/>
          <p:cNvSpPr txBox="1"/>
          <p:nvPr/>
        </p:nvSpPr>
        <p:spPr>
          <a:xfrm flipH="1">
            <a:off x="847724" y="5042401"/>
            <a:ext cx="3524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961572" y="4192661"/>
            <a:ext cx="50479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Programmatic Execution Engine (</a:t>
            </a:r>
            <a:r>
              <a:rPr lang="en-US" sz="1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Netmiko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ConnectHandler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816" y="2994341"/>
            <a:ext cx="5801535" cy="21148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1995" y="3755576"/>
            <a:ext cx="3377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Separation of Data and Logic</a:t>
            </a:r>
          </a:p>
        </p:txBody>
      </p:sp>
      <p:sp>
        <p:nvSpPr>
          <p:cNvPr id="23" name="Google Shape;173;p18"/>
          <p:cNvSpPr txBox="1"/>
          <p:nvPr/>
        </p:nvSpPr>
        <p:spPr>
          <a:xfrm flipH="1">
            <a:off x="847723" y="5811627"/>
            <a:ext cx="3524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47700" y="1122186"/>
            <a:ext cx="6420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Telemetry Logic</a:t>
            </a:r>
            <a:endParaRPr sz="2400"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LIVE MONITORING TELEMETRY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884" y="1559380"/>
            <a:ext cx="6351330" cy="34671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884" y="5091422"/>
            <a:ext cx="6351330" cy="13336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36727" y="6123709"/>
            <a:ext cx="1648691" cy="166255"/>
          </a:xfrm>
          <a:prstGeom prst="rect">
            <a:avLst/>
          </a:prstGeom>
          <a:solidFill>
            <a:schemeClr val="accent6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182818" y="1552522"/>
            <a:ext cx="511428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Monitoring Loop: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a continuous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while True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loop with 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time.sleep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(30)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delay to check data without overloading the router CPU.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OSPF Route Parsing: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continuous text-matching on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show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route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ospf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find and log active traffic interfaces instantly.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Dual-Stream Logging: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Python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logging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library to send tracking data to the terminal screen and write a timestamped audit trail to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network_status.log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47700" y="1122186"/>
            <a:ext cx="64208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 shift from raw "Scripting" to true Infrastructure as Code (</a:t>
            </a:r>
            <a:r>
              <a:rPr lang="en-US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IaC</a:t>
            </a:r>
            <a:r>
              <a:rPr lang="en-US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Ansible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6727" y="6123709"/>
            <a:ext cx="1648691" cy="166255"/>
          </a:xfrm>
          <a:prstGeom prst="rect">
            <a:avLst/>
          </a:prstGeom>
          <a:solidFill>
            <a:schemeClr val="accent6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417950" y="1804630"/>
            <a:ext cx="511428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Agentless </a:t>
            </a: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Framework: </a:t>
            </a:r>
            <a:r>
              <a:rPr lang="en-US" sz="2000" dirty="0"/>
              <a:t>no specialized </a:t>
            </a:r>
            <a:r>
              <a:rPr lang="en-US" sz="2000" dirty="0" smtClean="0"/>
              <a:t>software or agents </a:t>
            </a:r>
            <a:r>
              <a:rPr lang="en-US" sz="2000" dirty="0"/>
              <a:t>installed </a:t>
            </a:r>
            <a:r>
              <a:rPr lang="en-US" sz="2000" dirty="0" smtClean="0"/>
              <a:t>on routers </a:t>
            </a:r>
            <a:r>
              <a:rPr lang="en-US" sz="2000" dirty="0"/>
              <a:t>or </a:t>
            </a:r>
            <a:r>
              <a:rPr lang="en-US" sz="2000" dirty="0" smtClean="0"/>
              <a:t>switches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  Declarative Execution </a:t>
            </a: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Model</a:t>
            </a:r>
            <a:r>
              <a:rPr lang="en-US" altLang="en-US" sz="2000" dirty="0" smtClean="0">
                <a:solidFill>
                  <a:schemeClr val="tx1"/>
                </a:solidFill>
              </a:rPr>
              <a:t>:</a:t>
            </a:r>
            <a:br>
              <a:rPr lang="en-US" altLang="en-US" sz="2000" dirty="0" smtClean="0">
                <a:solidFill>
                  <a:schemeClr val="tx1"/>
                </a:solidFill>
              </a:rPr>
            </a:br>
            <a:r>
              <a:rPr lang="en-US" altLang="en-US" sz="2000" dirty="0" smtClean="0">
                <a:solidFill>
                  <a:schemeClr val="tx1"/>
                </a:solidFill>
              </a:rPr>
              <a:t>      handles </a:t>
            </a:r>
            <a:r>
              <a:rPr lang="en-US" altLang="en-US" sz="2000" dirty="0">
                <a:solidFill>
                  <a:schemeClr val="tx1"/>
                </a:solidFill>
              </a:rPr>
              <a:t>the underlying </a:t>
            </a:r>
            <a:r>
              <a:rPr lang="en-US" altLang="en-US" sz="2000" dirty="0" smtClean="0">
                <a:solidFill>
                  <a:schemeClr val="tx1"/>
                </a:solidFill>
              </a:rPr>
              <a:t>execution</a:t>
            </a:r>
            <a:br>
              <a:rPr lang="en-US" altLang="en-US" sz="2000" dirty="0" smtClean="0">
                <a:solidFill>
                  <a:schemeClr val="tx1"/>
                </a:solidFill>
              </a:rPr>
            </a:br>
            <a:r>
              <a:rPr lang="en-US" altLang="en-US" sz="2000" dirty="0" smtClean="0">
                <a:solidFill>
                  <a:schemeClr val="tx1"/>
                </a:solidFill>
              </a:rPr>
              <a:t>      mechanics natively.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  Parallel Execution: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using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</a:rPr>
              <a:t>Fork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 concept instead of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Sequential Mode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device by device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أنسيبل (برمجيات) - ويكيبيديا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24" y="1828799"/>
            <a:ext cx="2880197" cy="354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18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2907983" y="34290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 &amp; Answers </a:t>
            </a:r>
            <a:r>
              <a:rPr lang="en-US" sz="3150" b="1" i="0" u="none" strike="noStrike" cap="none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??</a:t>
            </a:r>
            <a:endParaRPr dirty="0"/>
          </a:p>
        </p:txBody>
      </p:sp>
      <p:sp>
        <p:nvSpPr>
          <p:cNvPr id="212" name="Google Shape;212;p20"/>
          <p:cNvSpPr/>
          <p:nvPr/>
        </p:nvSpPr>
        <p:spPr>
          <a:xfrm>
            <a:off x="2614612" y="3313673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518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</vt:lpstr>
      <vt:lpstr>Lato</vt:lpstr>
      <vt:lpstr>Arial Unicode MS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</dc:creator>
  <cp:lastModifiedBy>Mohamed</cp:lastModifiedBy>
  <cp:revision>28</cp:revision>
  <dcterms:modified xsi:type="dcterms:W3CDTF">2026-07-13T05:59:50Z</dcterms:modified>
</cp:coreProperties>
</file>