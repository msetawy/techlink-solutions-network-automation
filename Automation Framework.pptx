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Poppins" panose="020B0604020202020204" charset="0"/>
      <p:regular r:id="rId11"/>
      <p:bold r:id="rId12"/>
      <p:italic r:id="rId13"/>
      <p:boldItalic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Lato" panose="020F0502020204030203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8D0AF8C-70A9-4513-8D97-E613DD2DCAB2}">
  <a:tblStyle styleId="{D8D0AF8C-70A9-4513-8D97-E613DD2DCAB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-126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8" name="Google Shape;17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066800" y="2535733"/>
            <a:ext cx="11081385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WAN Automation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Framework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066800" y="4234755"/>
            <a:ext cx="10553700" cy="7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Infrastructure Resiliency &amp; Deployment Orchestration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95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TechLink Solutions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66912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571500" y="1966912"/>
            <a:ext cx="55006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Architecture Design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571500" y="2424112"/>
            <a:ext cx="52387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Strategic multi-branch layout connecting Cairo HQ to Alexandria and Giza regional nodes.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847725" y="3195458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52500" y="3193553"/>
            <a:ext cx="48577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Dual WAN Ingress:</a:t>
            </a: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Redundant ISP paths per branch terminating on Core L3.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847725" y="3774400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52500" y="3772495"/>
            <a:ext cx="48577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Path Separation:</a:t>
            </a: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HQ Core isolates transit traffic from campus L2 domains.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847725" y="4353341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52500" y="4351436"/>
            <a:ext cx="48577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High Availability:</a:t>
            </a: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Physical diversity across Gi1/0 to Gi4/0 interfaces.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NETWORK TOPOLOGY OVERVIEW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571500" y="571500"/>
            <a:ext cx="7620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3879" y="1849300"/>
            <a:ext cx="5833475" cy="404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952413" y="5091111"/>
            <a:ext cx="4857900" cy="9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Logical Segmentation: </a:t>
            </a:r>
            <a:r>
              <a:rPr lang="en-US" sz="142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Strict separation of the management plane (VLAN 10) from end-user traffic (VLAN 20) across all local access ports </a:t>
            </a:r>
            <a:endParaRPr sz="1425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0" name="Google Shape;110;p15"/>
          <p:cNvGraphicFramePr/>
          <p:nvPr/>
        </p:nvGraphicFramePr>
        <p:xfrm>
          <a:off x="571500" y="2355651"/>
          <a:ext cx="11049000" cy="3222875"/>
        </p:xfrm>
        <a:graphic>
          <a:graphicData uri="http://schemas.openxmlformats.org/drawingml/2006/table">
            <a:tbl>
              <a:tblPr firstRow="1" bandRow="1">
                <a:noFill/>
                <a:tableStyleId>{D8D0AF8C-70A9-4513-8D97-E613DD2DCAB2}</a:tableStyleId>
              </a:tblPr>
              <a:tblGrid>
                <a:gridCol w="244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58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4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Segment Role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Prefix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Subnet Mask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Design Rationale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4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WAN Point-to-Point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192.168.x.x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255.255.255.252 (/30)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Conserve space, minimize broadcast noise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4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Inter-Site Transit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10.10.1.0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255.255.255.252 (/30)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L3 Core to Distribution Handoff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4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Branch LAN (Users)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10.11.20.0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255.255.255.0 (/24)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Scalable local user segmentation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4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Branch Management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10.11.10.0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255.255.255.0 (/24)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Isolated OOB management access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1" name="Google Shape;111;p15"/>
          <p:cNvSpPr/>
          <p:nvPr/>
        </p:nvSpPr>
        <p:spPr>
          <a:xfrm>
            <a:off x="571500" y="3638550"/>
            <a:ext cx="244896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3020466" y="3638550"/>
            <a:ext cx="15573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4577804" y="3638550"/>
            <a:ext cx="25844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7162204" y="3638550"/>
            <a:ext cx="445829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571500" y="4280445"/>
            <a:ext cx="244896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3020466" y="4280445"/>
            <a:ext cx="15573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4577804" y="4280445"/>
            <a:ext cx="25844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7162204" y="4280445"/>
            <a:ext cx="445829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/>
          <p:nvPr/>
        </p:nvSpPr>
        <p:spPr>
          <a:xfrm>
            <a:off x="571500" y="4922341"/>
            <a:ext cx="244896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/>
          <p:nvPr/>
        </p:nvSpPr>
        <p:spPr>
          <a:xfrm>
            <a:off x="3020466" y="4922341"/>
            <a:ext cx="15573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/>
          <p:nvPr/>
        </p:nvSpPr>
        <p:spPr>
          <a:xfrm>
            <a:off x="4577804" y="4922341"/>
            <a:ext cx="25844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7162204" y="4922341"/>
            <a:ext cx="445829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571500" y="5564237"/>
            <a:ext cx="244896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/>
          <p:nvPr/>
        </p:nvSpPr>
        <p:spPr>
          <a:xfrm>
            <a:off x="3020466" y="5564237"/>
            <a:ext cx="15573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/>
          <p:nvPr/>
        </p:nvSpPr>
        <p:spPr>
          <a:xfrm>
            <a:off x="4577804" y="5564237"/>
            <a:ext cx="25844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5"/>
          <p:cNvSpPr/>
          <p:nvPr/>
        </p:nvSpPr>
        <p:spPr>
          <a:xfrm>
            <a:off x="7162204" y="5564237"/>
            <a:ext cx="445829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IP STRATEGIC ADDRESSING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71500" y="571500"/>
            <a:ext cx="7620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23219"/>
            <a:ext cx="3492400" cy="2897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0" y="2423219"/>
            <a:ext cx="3492400" cy="2897237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6"/>
          <p:cNvSpPr txBox="1"/>
          <p:nvPr/>
        </p:nvSpPr>
        <p:spPr>
          <a:xfrm>
            <a:off x="914400" y="3413819"/>
            <a:ext cx="294693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OSPF Area 0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914400" y="3928169"/>
            <a:ext cx="280660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Single Backbone Area 0 configuration for maximum convergence speed and simplicity.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4914900" y="3413819"/>
            <a:ext cx="2946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Self-Healing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4914900" y="3928169"/>
            <a:ext cx="2806500" cy="9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Sub-second RIB recalculation upon link state failure ensures zero-touch recovery.</a:t>
            </a:r>
            <a:endParaRPr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28042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914900" y="2804219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DYNAMIC ROUTING ENGINE</a:t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571500" y="571500"/>
            <a:ext cx="7620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66912"/>
            <a:ext cx="52387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966912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7"/>
          <p:cNvSpPr txBox="1"/>
          <p:nvPr/>
        </p:nvSpPr>
        <p:spPr>
          <a:xfrm>
            <a:off x="6381750" y="1966912"/>
            <a:ext cx="55006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L2/L3 Access Control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6381750" y="2424112"/>
            <a:ext cx="52387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Standardized switching templates across all branches for uniform policy enforcement.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6657975" y="3195458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6762750" y="3193553"/>
            <a:ext cx="48577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VLAN 10:</a:t>
            </a: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Management SVI for device telemetry.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6657975" y="3484929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6762750" y="3483024"/>
            <a:ext cx="48577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VLAN 20:</a:t>
            </a: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End-user data segment with DHCP relay to Core.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6657975" y="3774400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6762750" y="3772495"/>
            <a:ext cx="48577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Transit:</a:t>
            </a: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Routed port FE0/0 isolation on Multi-Layer Switches.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SWITCHING &amp; SEGMENT ARCHITECTURE</a:t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571500" y="571500"/>
            <a:ext cx="7620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89594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762000" y="1272775"/>
            <a:ext cx="70485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AUTOMATED</a:t>
            </a:r>
            <a:r>
              <a:rPr lang="en-US" sz="315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15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PROVISIONING</a:t>
            </a:r>
            <a:endParaRPr dirty="0"/>
          </a:p>
        </p:txBody>
      </p:sp>
      <p:sp>
        <p:nvSpPr>
          <p:cNvPr id="167" name="Google Shape;167;p18"/>
          <p:cNvSpPr/>
          <p:nvPr/>
        </p:nvSpPr>
        <p:spPr>
          <a:xfrm>
            <a:off x="571500" y="1272778"/>
            <a:ext cx="76200" cy="12001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709612" y="2890082"/>
            <a:ext cx="49530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Deployment engine utilizing Python and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Netmiko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 for zero-error baseline configuration.</a:t>
            </a:r>
            <a:endParaRPr sz="1800" dirty="0">
              <a:solidFill>
                <a:schemeClr val="tx1"/>
              </a:solidFill>
            </a:endParaRPr>
          </a:p>
        </p:txBody>
      </p:sp>
      <p:sp>
        <p:nvSpPr>
          <p:cNvPr id="169" name="Google Shape;169;p18"/>
          <p:cNvSpPr txBox="1"/>
          <p:nvPr/>
        </p:nvSpPr>
        <p:spPr>
          <a:xfrm>
            <a:off x="847725" y="3987224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952499" y="3985319"/>
            <a:ext cx="801139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/>
              <a:t>Zero-Touch Provisioning" (Just One Click)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847725" y="4566165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952499" y="4543767"/>
            <a:ext cx="825641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/>
              <a:t>Zero Configuration Drift" (Organized)</a:t>
            </a:r>
            <a:endParaRPr lang="en-US" altLang="en-US" sz="1600" dirty="0">
              <a:solidFill>
                <a:schemeClr val="tx1"/>
              </a:solidFill>
              <a:latin typeface="Google Sans Text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847725" y="5145107"/>
            <a:ext cx="1047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dirty="0"/>
          </a:p>
        </p:txBody>
      </p:sp>
      <p:sp>
        <p:nvSpPr>
          <p:cNvPr id="174" name="Google Shape;174;p18"/>
          <p:cNvSpPr txBox="1"/>
          <p:nvPr/>
        </p:nvSpPr>
        <p:spPr>
          <a:xfrm>
            <a:off x="900112" y="5736533"/>
            <a:ext cx="45720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762000" y="1765904"/>
            <a:ext cx="733085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F172A"/>
                </a:solidFill>
                <a:latin typeface="Poppins"/>
                <a:ea typeface="Poppins"/>
                <a:cs typeface="Poppins"/>
              </a:rPr>
              <a:t>Configuration Deployment Script (</a:t>
            </a:r>
            <a:r>
              <a:rPr lang="en-US" altLang="en-US" sz="2000" b="1" dirty="0">
                <a:solidFill>
                  <a:srgbClr val="00B050"/>
                </a:solidFill>
                <a:latin typeface="Poppins"/>
                <a:ea typeface="Poppins"/>
                <a:cs typeface="Poppins"/>
              </a:rPr>
              <a:t>initial_deploy.py</a:t>
            </a:r>
            <a:r>
              <a:rPr lang="en-US" altLang="en-US" sz="2000" b="1" dirty="0">
                <a:solidFill>
                  <a:srgbClr val="0F172A"/>
                </a:solidFill>
                <a:latin typeface="Poppins"/>
                <a:ea typeface="Poppins"/>
                <a:cs typeface="Poppins"/>
              </a:rPr>
              <a:t>) 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-161582"/>
            <a:ext cx="264816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3116" y="510918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952499" y="5067682"/>
            <a:ext cx="182774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Time/Effort Saved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912" y="2417190"/>
            <a:ext cx="5496692" cy="39248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762000" y="2835771"/>
            <a:ext cx="642080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Telemetry Logic</a:t>
            </a:r>
            <a:endParaRPr sz="1800" dirty="0"/>
          </a:p>
        </p:txBody>
      </p:sp>
      <p:sp>
        <p:nvSpPr>
          <p:cNvPr id="184" name="Google Shape;184;p19"/>
          <p:cNvSpPr txBox="1"/>
          <p:nvPr/>
        </p:nvSpPr>
        <p:spPr>
          <a:xfrm>
            <a:off x="761999" y="3292971"/>
            <a:ext cx="4806885" cy="70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Continuous route table polling provides human-readable status </a:t>
            </a:r>
            <a:r>
              <a:rPr lang="en-US" sz="1425" b="1" i="0" u="none" strike="noStrike" cap="none" dirty="0" smtClean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dashboards every 30 secs.</a:t>
            </a:r>
            <a:endParaRPr b="1" dirty="0"/>
          </a:p>
        </p:txBody>
      </p:sp>
      <p:sp>
        <p:nvSpPr>
          <p:cNvPr id="191" name="Google Shape;191;p19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LIVE MONITORING TELEMETRY</a:t>
            </a:r>
            <a:endParaRPr/>
          </a:p>
        </p:txBody>
      </p:sp>
      <p:sp>
        <p:nvSpPr>
          <p:cNvPr id="192" name="Google Shape;192;p19"/>
          <p:cNvSpPr/>
          <p:nvPr/>
        </p:nvSpPr>
        <p:spPr>
          <a:xfrm>
            <a:off x="571500" y="571500"/>
            <a:ext cx="7620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884" y="1559380"/>
            <a:ext cx="6351330" cy="34671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884" y="5091422"/>
            <a:ext cx="6351330" cy="13336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36727" y="6123709"/>
            <a:ext cx="1648691" cy="166255"/>
          </a:xfrm>
          <a:prstGeom prst="rect">
            <a:avLst/>
          </a:prstGeom>
          <a:solidFill>
            <a:schemeClr val="accent6"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0"/>
          <p:cNvSpPr txBox="1"/>
          <p:nvPr/>
        </p:nvSpPr>
        <p:spPr>
          <a:xfrm>
            <a:off x="2907983" y="34290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PHASE 2: </a:t>
            </a:r>
            <a:r>
              <a:rPr lang="en-US" sz="3150" b="1" i="0" u="none" strike="noStrike" cap="none" dirty="0" smtClean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What’s the Next ??</a:t>
            </a:r>
            <a:endParaRPr dirty="0"/>
          </a:p>
        </p:txBody>
      </p:sp>
      <p:sp>
        <p:nvSpPr>
          <p:cNvPr id="212" name="Google Shape;212;p20"/>
          <p:cNvSpPr/>
          <p:nvPr/>
        </p:nvSpPr>
        <p:spPr>
          <a:xfrm>
            <a:off x="2614612" y="3313673"/>
            <a:ext cx="7620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302</Words>
  <Application>Microsoft Office PowerPoint</Application>
  <PresentationFormat>Widescreen</PresentationFormat>
  <Paragraphs>60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Poppins</vt:lpstr>
      <vt:lpstr>Calibri</vt:lpstr>
      <vt:lpstr>Lato</vt:lpstr>
      <vt:lpstr>Google Sans Text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Mohamed</dc:creator>
  <cp:lastModifiedBy>Mohamed</cp:lastModifiedBy>
  <cp:revision>5</cp:revision>
  <dcterms:modified xsi:type="dcterms:W3CDTF">2026-06-21T18:05:10Z</dcterms:modified>
</cp:coreProperties>
</file>