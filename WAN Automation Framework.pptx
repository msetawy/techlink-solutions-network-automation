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Poppins" panose="020B0604020202020204" charset="0"/>
      <p:regular r:id="rId15"/>
      <p:bold r:id="rId16"/>
      <p:italic r:id="rId17"/>
      <p:boldItalic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D0AF8C-70A9-4513-8D97-E613DD2DCAB2}">
  <a:tblStyle styleId="{D8D0AF8C-70A9-4513-8D97-E613DD2DCA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66800" y="2535733"/>
            <a:ext cx="11081385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WAN Automation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Framework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66800" y="4234755"/>
            <a:ext cx="105537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Infrastructure Resiliency &amp; Deployment Orchestration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TechLink Solutions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669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196691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Architecture Design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424112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Strategic multi-branch layout connecting Cairo HQ to Alexandria and Giza regional nodes.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47725" y="3195458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3193553"/>
            <a:ext cx="48577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Dual WAN Ingress: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Redundant ISP paths per branch terminating on Core L3.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47725" y="37744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3772495"/>
            <a:ext cx="48577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Path Separation: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HQ Core isolates transit traffic from campus L2 domains.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47725" y="4353341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351436"/>
            <a:ext cx="48577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Availability: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Physical diversity across Gi1/0 to Gi4/0 interfaces.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NETWORK TOPOLOGY OVERVIEW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3879" y="1849300"/>
            <a:ext cx="5833475" cy="40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52413" y="5091111"/>
            <a:ext cx="48579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Logical Segmentation: </a:t>
            </a:r>
            <a:r>
              <a:rPr lang="en-US" sz="142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Strict separation of the management plane (VLAN 10) from end-user traffic (VLAN 20) across all local access ports </a:t>
            </a:r>
            <a:endParaRPr sz="1425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" name="Google Shape;110;p15"/>
          <p:cNvGraphicFramePr/>
          <p:nvPr/>
        </p:nvGraphicFramePr>
        <p:xfrm>
          <a:off x="571500" y="2355651"/>
          <a:ext cx="11049000" cy="3222875"/>
        </p:xfrm>
        <a:graphic>
          <a:graphicData uri="http://schemas.openxmlformats.org/drawingml/2006/table">
            <a:tbl>
              <a:tblPr firstRow="1" bandRow="1">
                <a:noFill/>
                <a:tableStyleId>{D8D0AF8C-70A9-4513-8D97-E613DD2DCAB2}</a:tableStyleId>
              </a:tblPr>
              <a:tblGrid>
                <a:gridCol w="244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Segment Role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Prefix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Subnet Mask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Design Rationale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WAN Point-to-Point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192.168.x.x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255.255.255.252 (/30)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Conserve space, minimize broadcast noise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Inter-Site Transit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10.10.1.0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255.255.255.252 (/30)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L3 Core to Distribution Handoff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Branch LAN (Users)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10.11.20.0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255.255.255.0 (/24)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Scalable local user segmentation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Branch Management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10.11.10.0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255.255.255.0 (/24)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Isolated OOB management access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1" name="Google Shape;111;p15"/>
          <p:cNvSpPr/>
          <p:nvPr/>
        </p:nvSpPr>
        <p:spPr>
          <a:xfrm>
            <a:off x="571500" y="3638550"/>
            <a:ext cx="2448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3020466" y="3638550"/>
            <a:ext cx="1557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577804" y="3638550"/>
            <a:ext cx="2584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7162204" y="3638550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71500" y="4280445"/>
            <a:ext cx="2448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3020466" y="4280445"/>
            <a:ext cx="1557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577804" y="4280445"/>
            <a:ext cx="2584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162204" y="4280445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71500" y="4922341"/>
            <a:ext cx="2448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020466" y="4922341"/>
            <a:ext cx="1557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4577804" y="4922341"/>
            <a:ext cx="2584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162204" y="4922341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71500" y="5564237"/>
            <a:ext cx="24489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020466" y="5564237"/>
            <a:ext cx="15573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4577804" y="5564237"/>
            <a:ext cx="2584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7162204" y="5564237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IP STRATEGIC ADDRESSING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23219"/>
            <a:ext cx="3492400" cy="2897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2423219"/>
            <a:ext cx="3492400" cy="289723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14400" y="3413819"/>
            <a:ext cx="294693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OSPF Area 0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14400" y="3928169"/>
            <a:ext cx="280660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Single Backbone Area 0 configuration for maximum convergence speed and simplicity.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914900" y="3413819"/>
            <a:ext cx="2946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Self-Healing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914900" y="3928169"/>
            <a:ext cx="2806500" cy="9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Sub-second RIB recalculation upon link state failure ensures zero-touch recovery.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8042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14900" y="280421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DYNAMIC ROUTING ENGINE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691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6691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6381750" y="1966912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L2/L3 Access Control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381750" y="2424112"/>
            <a:ext cx="52387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Standardized switching templates across all branches for uniform policy enforcement.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57975" y="3195458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762750" y="3193553"/>
            <a:ext cx="48577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 10: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Management SVI for device telemetry.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57975" y="3484929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62750" y="3483024"/>
            <a:ext cx="48577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VLAN 20: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End-user data segment with DHCP relay to Core.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657975" y="3774400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762750" y="3772495"/>
            <a:ext cx="485775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Transit:</a:t>
            </a: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Routed port FE0/0 isolation on Multi-Layer Switches.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SWITCHING &amp; SEGMENT ARCHITECTURE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959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1272775"/>
            <a:ext cx="7048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AUTOMATED</a:t>
            </a:r>
            <a:r>
              <a:rPr lang="en-US" sz="315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PROVISIONING</a:t>
            </a:r>
            <a:endParaRPr dirty="0"/>
          </a:p>
        </p:txBody>
      </p:sp>
      <p:sp>
        <p:nvSpPr>
          <p:cNvPr id="167" name="Google Shape;167;p18"/>
          <p:cNvSpPr/>
          <p:nvPr/>
        </p:nvSpPr>
        <p:spPr>
          <a:xfrm>
            <a:off x="571500" y="1272778"/>
            <a:ext cx="76200" cy="1200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709612" y="2890082"/>
            <a:ext cx="4953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Deployment engine utilizing Python and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Netmiko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Lato"/>
                <a:ea typeface="Lato"/>
                <a:cs typeface="Lato"/>
                <a:sym typeface="Lato"/>
              </a:rPr>
              <a:t> for zero-error baseline configuration.</a:t>
            </a:r>
            <a:endParaRPr sz="1800" dirty="0">
              <a:solidFill>
                <a:schemeClr val="tx1"/>
              </a:solidFill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847725" y="3987224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52499" y="3985319"/>
            <a:ext cx="801139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Zero-Touch Provisioning" (Just One Click)</a:t>
            </a: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847725" y="456616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952499" y="4543767"/>
            <a:ext cx="825641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Zero Configuration Drift" (Organized)</a:t>
            </a:r>
            <a:endParaRPr lang="en-US" altLang="en-US" sz="1600" dirty="0">
              <a:solidFill>
                <a:schemeClr val="tx1"/>
              </a:solidFill>
              <a:latin typeface="Google Sans Text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847725" y="514510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74" name="Google Shape;174;p18"/>
          <p:cNvSpPr txBox="1"/>
          <p:nvPr/>
        </p:nvSpPr>
        <p:spPr>
          <a:xfrm>
            <a:off x="900112" y="5736533"/>
            <a:ext cx="45720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62000" y="1765904"/>
            <a:ext cx="733085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b="1" dirty="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Configuration Deployment Script (</a:t>
            </a:r>
            <a:r>
              <a:rPr lang="en-US" altLang="en-US" sz="2000" b="1" dirty="0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initial_deploy.py</a:t>
            </a:r>
            <a:r>
              <a:rPr lang="en-US" altLang="en-US" sz="2000" b="1" dirty="0">
                <a:solidFill>
                  <a:srgbClr val="0F172A"/>
                </a:solidFill>
                <a:latin typeface="Poppins"/>
                <a:ea typeface="Poppins"/>
                <a:cs typeface="Poppins"/>
              </a:rPr>
              <a:t>)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-161582"/>
            <a:ext cx="264816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116" y="510918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2499" y="5067682"/>
            <a:ext cx="18277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/>
              <a:t>Time/Effort Saved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912" y="2417190"/>
            <a:ext cx="5496692" cy="39248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62000" y="2835771"/>
            <a:ext cx="64208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Telemetry Logic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761999" y="3292971"/>
            <a:ext cx="7213023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Continuous route table polling provides human-readable status </a:t>
            </a:r>
            <a:r>
              <a:rPr lang="en-US" sz="1425" b="0" i="0" u="none" strike="noStrike" cap="none" dirty="0" smtClean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dashboards every 30 secs.</a:t>
            </a:r>
            <a:endParaRPr dirty="0"/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LIVE MONITORING TELEMETRY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50108"/>
            <a:ext cx="2430660" cy="2196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4180" y="3250108"/>
            <a:ext cx="2430660" cy="2196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16860" y="3250108"/>
            <a:ext cx="2430660" cy="2196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89541" y="3250108"/>
            <a:ext cx="2430660" cy="219610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/>
          <p:nvPr/>
        </p:nvSpPr>
        <p:spPr>
          <a:xfrm>
            <a:off x="571500" y="4329112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771525" y="3450133"/>
            <a:ext cx="21321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Q3 - 2026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71525" y="3907333"/>
            <a:ext cx="203061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Security hardening: Implement IPsec tunnels over OSPF transit links.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3644205" y="3450133"/>
            <a:ext cx="21321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Q4 - 2026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3644205" y="3907333"/>
            <a:ext cx="2030610" cy="115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SD-WAN Trial: Introduction of centralized policy management.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516885" y="3450133"/>
            <a:ext cx="21321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Q1 - 2027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516885" y="3907333"/>
            <a:ext cx="203061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Cloud Edge: Direct interconnection to Azure/AWS local zones.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9389566" y="3450133"/>
            <a:ext cx="213214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Q2 - 2027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9389566" y="3907333"/>
            <a:ext cx="2030610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AI Ops: Predictive failure analysis via machine learning telemetry.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PHASE 2: STRATEGIC ROADMAP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353</Words>
  <Application>Microsoft Office PowerPoint</Application>
  <PresentationFormat>Widescreen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Arial</vt:lpstr>
      <vt:lpstr>Google Sans Text</vt:lpstr>
      <vt:lpstr>Poppins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</dc:creator>
  <cp:lastModifiedBy>Mohamed</cp:lastModifiedBy>
  <cp:revision>4</cp:revision>
  <dcterms:modified xsi:type="dcterms:W3CDTF">2026-06-21T15:46:48Z</dcterms:modified>
</cp:coreProperties>
</file>