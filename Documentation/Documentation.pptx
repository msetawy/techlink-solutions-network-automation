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029C-AB7C-4485-B350-F242837E3F0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436E-607A-402C-A93B-396E4CCE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029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029C-AB7C-4485-B350-F242837E3F0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436E-607A-402C-A93B-396E4CCE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91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029C-AB7C-4485-B350-F242837E3F0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436E-607A-402C-A93B-396E4CCE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029C-AB7C-4485-B350-F242837E3F0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436E-607A-402C-A93B-396E4CCE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4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029C-AB7C-4485-B350-F242837E3F0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436E-607A-402C-A93B-396E4CCE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9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029C-AB7C-4485-B350-F242837E3F0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436E-607A-402C-A93B-396E4CCE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50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029C-AB7C-4485-B350-F242837E3F0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436E-607A-402C-A93B-396E4CCE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26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029C-AB7C-4485-B350-F242837E3F0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436E-607A-402C-A93B-396E4CCE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7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029C-AB7C-4485-B350-F242837E3F0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436E-607A-402C-A93B-396E4CCE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277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029C-AB7C-4485-B350-F242837E3F0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436E-607A-402C-A93B-396E4CCE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9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029C-AB7C-4485-B350-F242837E3F0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436E-607A-402C-A93B-396E4CCE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61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9029C-AB7C-4485-B350-F242837E3F0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9436E-607A-402C-A93B-396E4CCE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19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5247" y="1998617"/>
            <a:ext cx="10855234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/>
              <a:t>NETWORK DESIGN &amp; AUTOMATION SPECIFICATION</a:t>
            </a:r>
            <a:br>
              <a:rPr lang="en-US" sz="2400" b="1" dirty="0" smtClean="0"/>
            </a:br>
            <a:endParaRPr lang="en-US" sz="2400" b="1" dirty="0" smtClean="0"/>
          </a:p>
          <a:p>
            <a:pPr algn="ctr"/>
            <a:r>
              <a:rPr lang="en-US" b="1" dirty="0" smtClean="0"/>
              <a:t>High-Availability Automated Multi-Branch WAN Architecture</a:t>
            </a:r>
          </a:p>
          <a:p>
            <a:pPr algn="ctr"/>
            <a:r>
              <a:rPr lang="en-US" b="1" dirty="0" smtClean="0"/>
              <a:t>Prepared For:</a:t>
            </a:r>
            <a:r>
              <a:rPr lang="en-US" dirty="0" smtClean="0"/>
              <a:t> </a:t>
            </a:r>
            <a:r>
              <a:rPr lang="en-US" dirty="0" err="1" smtClean="0"/>
              <a:t>TechLink</a:t>
            </a:r>
            <a:r>
              <a:rPr lang="en-US" dirty="0" smtClean="0"/>
              <a:t> Solutions</a:t>
            </a:r>
            <a:br>
              <a:rPr lang="en-US" dirty="0" smtClean="0"/>
            </a:br>
            <a:endParaRPr lang="en-US" dirty="0" smtClean="0"/>
          </a:p>
          <a:p>
            <a:pPr algn="ctr"/>
            <a:r>
              <a:rPr lang="en-US" b="1" dirty="0" smtClean="0"/>
              <a:t>Target Infrastructure:</a:t>
            </a:r>
            <a:r>
              <a:rPr lang="en-US" dirty="0" smtClean="0"/>
              <a:t> Cairo HQ Core — Alexandria &amp; Giza Regional Branches</a:t>
            </a:r>
          </a:p>
          <a:p>
            <a:pPr algn="ctr"/>
            <a:r>
              <a:rPr lang="en-US" b="1" dirty="0" smtClean="0"/>
              <a:t>Document Classification:</a:t>
            </a:r>
            <a:r>
              <a:rPr lang="en-US" dirty="0" smtClean="0"/>
              <a:t> Technical Design, Deployment, &amp; Automated Telemetry 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787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19" y="901338"/>
            <a:ext cx="9143438" cy="55323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394" y="300446"/>
            <a:ext cx="34668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/>
              <a:t> Network topology Diagram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2718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130634"/>
              </p:ext>
            </p:extLst>
          </p:nvPr>
        </p:nvGraphicFramePr>
        <p:xfrm>
          <a:off x="1319348" y="822968"/>
          <a:ext cx="9640388" cy="57320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6228">
                  <a:extLst>
                    <a:ext uri="{9D8B030D-6E8A-4147-A177-3AD203B41FA5}">
                      <a16:colId xmlns:a16="http://schemas.microsoft.com/office/drawing/2014/main" val="671302052"/>
                    </a:ext>
                  </a:extLst>
                </a:gridCol>
                <a:gridCol w="1231828">
                  <a:extLst>
                    <a:ext uri="{9D8B030D-6E8A-4147-A177-3AD203B41FA5}">
                      <a16:colId xmlns:a16="http://schemas.microsoft.com/office/drawing/2014/main" val="3398630451"/>
                    </a:ext>
                  </a:extLst>
                </a:gridCol>
                <a:gridCol w="2356538">
                  <a:extLst>
                    <a:ext uri="{9D8B030D-6E8A-4147-A177-3AD203B41FA5}">
                      <a16:colId xmlns:a16="http://schemas.microsoft.com/office/drawing/2014/main" val="2527946872"/>
                    </a:ext>
                  </a:extLst>
                </a:gridCol>
                <a:gridCol w="1245216">
                  <a:extLst>
                    <a:ext uri="{9D8B030D-6E8A-4147-A177-3AD203B41FA5}">
                      <a16:colId xmlns:a16="http://schemas.microsoft.com/office/drawing/2014/main" val="3314082072"/>
                    </a:ext>
                  </a:extLst>
                </a:gridCol>
                <a:gridCol w="1633511">
                  <a:extLst>
                    <a:ext uri="{9D8B030D-6E8A-4147-A177-3AD203B41FA5}">
                      <a16:colId xmlns:a16="http://schemas.microsoft.com/office/drawing/2014/main" val="194289624"/>
                    </a:ext>
                  </a:extLst>
                </a:gridCol>
                <a:gridCol w="1687067">
                  <a:extLst>
                    <a:ext uri="{9D8B030D-6E8A-4147-A177-3AD203B41FA5}">
                      <a16:colId xmlns:a16="http://schemas.microsoft.com/office/drawing/2014/main" val="4236465097"/>
                    </a:ext>
                  </a:extLst>
                </a:gridCol>
              </a:tblGrid>
              <a:tr h="243430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 Master IP Addressing Table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815076"/>
                  </a:ext>
                </a:extLst>
              </a:tr>
              <a:tr h="2434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Device name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Interface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Description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ip address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subnet mask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Default Gateway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392352"/>
                  </a:ext>
                </a:extLst>
              </a:tr>
              <a:tr h="22130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HQ-Router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Router ID / Loopback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1.1.1.1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255.255.255.255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31128"/>
                  </a:ext>
                </a:extLst>
              </a:tr>
              <a:tr h="221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G0/0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Link to </a:t>
                      </a:r>
                      <a:r>
                        <a:rPr lang="en-US" sz="1400" u="none" strike="noStrike" dirty="0" err="1">
                          <a:effectLst/>
                        </a:rPr>
                        <a:t>cairo</a:t>
                      </a:r>
                      <a:r>
                        <a:rPr lang="en-US" sz="1400" u="none" strike="noStrike" dirty="0">
                          <a:effectLst/>
                        </a:rPr>
                        <a:t> ML switch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10.10.1.1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255.255.255.252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498334"/>
                  </a:ext>
                </a:extLst>
              </a:tr>
              <a:tr h="221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G1/0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Primary WAN Link to Alex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192.168.12.1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255.255.255.252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192.168.12.2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883238"/>
                  </a:ext>
                </a:extLst>
              </a:tr>
              <a:tr h="221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G2/0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Backup WAN Link to Alex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192.168.13.1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255.255.255.252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192.168.13.2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679110"/>
                  </a:ext>
                </a:extLst>
              </a:tr>
              <a:tr h="221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G3/0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Primary WAN Link to Giza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192.168.22.1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255.255.255.252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192.168.22.2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775567"/>
                  </a:ext>
                </a:extLst>
              </a:tr>
              <a:tr h="2323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G4/0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Backup WAN Link to Giza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192.168.23.1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255.255.255.252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192.168.23.2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57640"/>
                  </a:ext>
                </a:extLst>
              </a:tr>
              <a:tr h="2213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HQ-ML-Switch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smtClean="0">
                          <a:effectLst/>
                        </a:rPr>
                        <a:t>FE0/0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Routed Port to HQ Router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10.10.1.2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255.255.255.252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10.10.1.1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565589"/>
                  </a:ext>
                </a:extLst>
              </a:tr>
              <a:tr h="221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smtClean="0">
                          <a:effectLst/>
                        </a:rPr>
                        <a:t>FE0/1(</a:t>
                      </a:r>
                      <a:r>
                        <a:rPr lang="en-US" sz="1400" u="none" strike="noStrike" dirty="0" err="1" smtClean="0">
                          <a:effectLst/>
                        </a:rPr>
                        <a:t>Vlan</a:t>
                      </a:r>
                      <a:r>
                        <a:rPr lang="en-US" sz="1400" u="none" strike="noStrike" dirty="0" smtClean="0">
                          <a:effectLst/>
                        </a:rPr>
                        <a:t> </a:t>
                      </a:r>
                      <a:r>
                        <a:rPr lang="en-US" sz="1400" u="none" strike="noStrike" dirty="0">
                          <a:effectLst/>
                        </a:rPr>
                        <a:t>10)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Cairo Management SVI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10.10.10.1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255.255.255.0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061631"/>
                  </a:ext>
                </a:extLst>
              </a:tr>
              <a:tr h="2323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smtClean="0">
                          <a:effectLst/>
                        </a:rPr>
                        <a:t>FE1/0(</a:t>
                      </a:r>
                      <a:r>
                        <a:rPr lang="en-US" sz="1400" u="none" strike="noStrike" dirty="0" err="1" smtClean="0">
                          <a:effectLst/>
                        </a:rPr>
                        <a:t>Vlan</a:t>
                      </a:r>
                      <a:r>
                        <a:rPr lang="en-US" sz="1400" u="none" strike="noStrike" dirty="0" smtClean="0">
                          <a:effectLst/>
                        </a:rPr>
                        <a:t> </a:t>
                      </a:r>
                      <a:r>
                        <a:rPr lang="en-US" sz="1400" u="none" strike="noStrike" dirty="0">
                          <a:effectLst/>
                        </a:rPr>
                        <a:t>20)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Cairo Users SVI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10.10.20.1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255.255.255.0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016024"/>
                  </a:ext>
                </a:extLst>
              </a:tr>
              <a:tr h="22130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BR1-Alex-Router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Router ID / Loopback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2.2.2.2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255.255.255.255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452071"/>
                  </a:ext>
                </a:extLst>
              </a:tr>
              <a:tr h="221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G0/0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Link to Alex ML Switch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10.11.1.1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255.255.255.252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114325"/>
                  </a:ext>
                </a:extLst>
              </a:tr>
              <a:tr h="221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G1/0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Primary WAN Link to Cairo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192.168.12.2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255.255.255.252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192.168.12.1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018225"/>
                  </a:ext>
                </a:extLst>
              </a:tr>
              <a:tr h="2323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G2/0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Backup WAN Link to Cairo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192.168.13.2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255.255.255.252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192.168.13.1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035277"/>
                  </a:ext>
                </a:extLst>
              </a:tr>
              <a:tr h="2213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BR1-ML-Switch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FE0/0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Routed Port to Alex Router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10.11.1.2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255.255.255.252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10.11.1.1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446636"/>
                  </a:ext>
                </a:extLst>
              </a:tr>
              <a:tr h="221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FE0/1(Vlan 10)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Alex Management SVI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10.11.10.1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255.255.255.0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699230"/>
                  </a:ext>
                </a:extLst>
              </a:tr>
              <a:tr h="2323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FE1/0(</a:t>
                      </a:r>
                      <a:r>
                        <a:rPr lang="en-US" sz="1400" u="none" strike="noStrike" dirty="0" err="1">
                          <a:effectLst/>
                        </a:rPr>
                        <a:t>Vlan</a:t>
                      </a:r>
                      <a:r>
                        <a:rPr lang="en-US" sz="1400" u="none" strike="noStrike" dirty="0">
                          <a:effectLst/>
                        </a:rPr>
                        <a:t> 20)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Alex Users SVI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10.11.20.1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255.255.255.0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430990"/>
                  </a:ext>
                </a:extLst>
              </a:tr>
              <a:tr h="22130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BR2-Giza-Router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Router ID / Loopback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3.3.3.3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255.255.255.255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941285"/>
                  </a:ext>
                </a:extLst>
              </a:tr>
              <a:tr h="221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G0/0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Link to Giza ML Switch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10.12.1.2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255.255.255.252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341350"/>
                  </a:ext>
                </a:extLst>
              </a:tr>
              <a:tr h="221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G1/0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Primary WAN Link to Cairo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192.168.22.2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255.255.255.252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192.168.22.1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390255"/>
                  </a:ext>
                </a:extLst>
              </a:tr>
              <a:tr h="2323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G2/0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Backup WAN Link to Cairo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192.168.23.2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255.255.255.252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192.168.23.1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611625"/>
                  </a:ext>
                </a:extLst>
              </a:tr>
              <a:tr h="2213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BR2-ML-Switch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FE0/0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Routed Port to Alex Router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10.12.1.2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255.255.255.252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10.12.1.1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732885"/>
                  </a:ext>
                </a:extLst>
              </a:tr>
              <a:tr h="221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FE0/1(</a:t>
                      </a:r>
                      <a:r>
                        <a:rPr lang="en-US" sz="1400" u="none" strike="noStrike" dirty="0" err="1">
                          <a:effectLst/>
                        </a:rPr>
                        <a:t>Vlan</a:t>
                      </a:r>
                      <a:r>
                        <a:rPr lang="en-US" sz="1400" u="none" strike="noStrike" dirty="0">
                          <a:effectLst/>
                        </a:rPr>
                        <a:t> 10)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Giza Management SVI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10.12.10.1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255.255.255.0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828750"/>
                  </a:ext>
                </a:extLst>
              </a:tr>
              <a:tr h="2323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FE1/0(Vlan 20)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Giza Users SVI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10.12.20.1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255.255.255.0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32" marR="8532" marT="8532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29306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0342" y="222069"/>
            <a:ext cx="3000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Master IP Addressing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5794" y="272962"/>
            <a:ext cx="910481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Routing &amp; Failover Strategy</a:t>
            </a:r>
            <a:b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OSPFv2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router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ospf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1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area 0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for dynamic neighbor discovery and zero manual route management.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Flow: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Identical cost metrics enable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ECMP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(Equal-Cost Multi-Pathing). The core router splits traffic across both pipes under normal conditions to utilize all paid bandwidth.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Failover Behavior: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a primary link drops, OSPF drops the adjacency, flushes the bad route from the routing table, and swings 100% of traffic to the backup 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5794" y="3596949"/>
            <a:ext cx="1041980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Why OSPF Over Other Protocols?</a:t>
            </a:r>
            <a:br>
              <a:rPr lang="en-US" b="1" dirty="0" smtClean="0"/>
            </a:br>
            <a:endParaRPr lang="en-US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vs. Static Routing:</a:t>
            </a:r>
            <a:r>
              <a:rPr lang="en-US" dirty="0" smtClean="0"/>
              <a:t> Static routes require manual scripting or brittle IP SLA tracking to failover. OSPF heals itself automatically when hello packets stop, without adding complex configurations.</a:t>
            </a:r>
            <a:br>
              <a:rPr lang="en-US" dirty="0" smtClean="0"/>
            </a:b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vs. BGP:</a:t>
            </a:r>
            <a:r>
              <a:rPr lang="en-US" dirty="0" smtClean="0"/>
              <a:t> BGP is built for massive internet edge or carrier networks. It introduces massive configuration overhead and slower default convergence timers that are unnecessary for a lean, three-site private WAN layout.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894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442</Words>
  <Application>Microsoft Office PowerPoint</Application>
  <PresentationFormat>Widescreen</PresentationFormat>
  <Paragraphs>142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Unicode MS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</dc:creator>
  <cp:lastModifiedBy>Mohamed</cp:lastModifiedBy>
  <cp:revision>2</cp:revision>
  <dcterms:created xsi:type="dcterms:W3CDTF">2026-06-21T13:33:41Z</dcterms:created>
  <dcterms:modified xsi:type="dcterms:W3CDTF">2026-06-21T13:42:38Z</dcterms:modified>
</cp:coreProperties>
</file>